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57" r:id="rId4"/>
    <p:sldId id="270" r:id="rId5"/>
    <p:sldId id="271" r:id="rId6"/>
    <p:sldId id="272" r:id="rId7"/>
    <p:sldId id="273" r:id="rId8"/>
    <p:sldId id="274" r:id="rId9"/>
    <p:sldId id="275" r:id="rId10"/>
    <p:sldId id="277" r:id="rId11"/>
    <p:sldId id="276" r:id="rId12"/>
    <p:sldId id="278" r:id="rId13"/>
    <p:sldId id="279" r:id="rId14"/>
    <p:sldId id="280" r:id="rId15"/>
    <p:sldId id="25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05" autoAdjust="0"/>
    <p:restoredTop sz="94660"/>
  </p:normalViewPr>
  <p:slideViewPr>
    <p:cSldViewPr snapToGrid="0">
      <p:cViewPr varScale="1">
        <p:scale>
          <a:sx n="46" d="100"/>
          <a:sy n="46" d="100"/>
        </p:scale>
        <p:origin x="62" y="38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59979-D655-E11E-C010-E009209932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EA6DBB9-AFA4-75FD-DEA7-105C157FE6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5AC8F15-D975-9868-04F4-F7F8387F8B5B}"/>
              </a:ext>
            </a:extLst>
          </p:cNvPr>
          <p:cNvSpPr>
            <a:spLocks noGrp="1"/>
          </p:cNvSpPr>
          <p:nvPr>
            <p:ph type="dt" sz="half" idx="10"/>
          </p:nvPr>
        </p:nvSpPr>
        <p:spPr/>
        <p:txBody>
          <a:bodyPr/>
          <a:lstStyle/>
          <a:p>
            <a:fld id="{4B245BDD-0449-4806-BA47-E7FEC2D29ADB}" type="datetimeFigureOut">
              <a:rPr lang="en-IN" smtClean="0"/>
              <a:t>27-12-2025</a:t>
            </a:fld>
            <a:endParaRPr lang="en-IN"/>
          </a:p>
        </p:txBody>
      </p:sp>
      <p:sp>
        <p:nvSpPr>
          <p:cNvPr id="5" name="Footer Placeholder 4">
            <a:extLst>
              <a:ext uri="{FF2B5EF4-FFF2-40B4-BE49-F238E27FC236}">
                <a16:creationId xmlns:a16="http://schemas.microsoft.com/office/drawing/2014/main" id="{7E3AD683-4583-E337-BA7C-0D1D5DB035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3CCFD4-87D8-502E-1AC2-4EEC4D9B578E}"/>
              </a:ext>
            </a:extLst>
          </p:cNvPr>
          <p:cNvSpPr>
            <a:spLocks noGrp="1"/>
          </p:cNvSpPr>
          <p:nvPr>
            <p:ph type="sldNum" sz="quarter" idx="12"/>
          </p:nvPr>
        </p:nvSpPr>
        <p:spPr/>
        <p:txBody>
          <a:bodyPr/>
          <a:lstStyle/>
          <a:p>
            <a:fld id="{C67DA592-8604-4F3C-BEFE-39189AA1E543}" type="slidenum">
              <a:rPr lang="en-IN" smtClean="0"/>
              <a:t>‹#›</a:t>
            </a:fld>
            <a:endParaRPr lang="en-IN"/>
          </a:p>
        </p:txBody>
      </p:sp>
    </p:spTree>
    <p:extLst>
      <p:ext uri="{BB962C8B-B14F-4D97-AF65-F5344CB8AC3E}">
        <p14:creationId xmlns:p14="http://schemas.microsoft.com/office/powerpoint/2010/main" val="1981602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68120-50E1-FE5F-3375-B017472673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CF7558-2F2B-072A-FF67-7D11AABBA7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552BCB-85DD-D8D0-472C-48694AB49787}"/>
              </a:ext>
            </a:extLst>
          </p:cNvPr>
          <p:cNvSpPr>
            <a:spLocks noGrp="1"/>
          </p:cNvSpPr>
          <p:nvPr>
            <p:ph type="dt" sz="half" idx="10"/>
          </p:nvPr>
        </p:nvSpPr>
        <p:spPr/>
        <p:txBody>
          <a:bodyPr/>
          <a:lstStyle/>
          <a:p>
            <a:fld id="{4B245BDD-0449-4806-BA47-E7FEC2D29ADB}" type="datetimeFigureOut">
              <a:rPr lang="en-IN" smtClean="0"/>
              <a:t>27-12-2025</a:t>
            </a:fld>
            <a:endParaRPr lang="en-IN"/>
          </a:p>
        </p:txBody>
      </p:sp>
      <p:sp>
        <p:nvSpPr>
          <p:cNvPr id="5" name="Footer Placeholder 4">
            <a:extLst>
              <a:ext uri="{FF2B5EF4-FFF2-40B4-BE49-F238E27FC236}">
                <a16:creationId xmlns:a16="http://schemas.microsoft.com/office/drawing/2014/main" id="{1E3ED10D-F0C3-B42C-194F-9A01B752CC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FB2016-D81E-0CAD-6C1A-D6DBB35FC727}"/>
              </a:ext>
            </a:extLst>
          </p:cNvPr>
          <p:cNvSpPr>
            <a:spLocks noGrp="1"/>
          </p:cNvSpPr>
          <p:nvPr>
            <p:ph type="sldNum" sz="quarter" idx="12"/>
          </p:nvPr>
        </p:nvSpPr>
        <p:spPr/>
        <p:txBody>
          <a:bodyPr/>
          <a:lstStyle/>
          <a:p>
            <a:fld id="{C67DA592-8604-4F3C-BEFE-39189AA1E543}" type="slidenum">
              <a:rPr lang="en-IN" smtClean="0"/>
              <a:t>‹#›</a:t>
            </a:fld>
            <a:endParaRPr lang="en-IN"/>
          </a:p>
        </p:txBody>
      </p:sp>
    </p:spTree>
    <p:extLst>
      <p:ext uri="{BB962C8B-B14F-4D97-AF65-F5344CB8AC3E}">
        <p14:creationId xmlns:p14="http://schemas.microsoft.com/office/powerpoint/2010/main" val="26333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2E71D-CDCC-A02E-E29D-39F55EF81B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3B370AC-655E-FCE0-3557-3BD7B2F774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2C1028-3E4D-AD9E-944D-A9E618425E32}"/>
              </a:ext>
            </a:extLst>
          </p:cNvPr>
          <p:cNvSpPr>
            <a:spLocks noGrp="1"/>
          </p:cNvSpPr>
          <p:nvPr>
            <p:ph type="dt" sz="half" idx="10"/>
          </p:nvPr>
        </p:nvSpPr>
        <p:spPr/>
        <p:txBody>
          <a:bodyPr/>
          <a:lstStyle/>
          <a:p>
            <a:fld id="{4B245BDD-0449-4806-BA47-E7FEC2D29ADB}" type="datetimeFigureOut">
              <a:rPr lang="en-IN" smtClean="0"/>
              <a:t>27-12-2025</a:t>
            </a:fld>
            <a:endParaRPr lang="en-IN"/>
          </a:p>
        </p:txBody>
      </p:sp>
      <p:sp>
        <p:nvSpPr>
          <p:cNvPr id="5" name="Footer Placeholder 4">
            <a:extLst>
              <a:ext uri="{FF2B5EF4-FFF2-40B4-BE49-F238E27FC236}">
                <a16:creationId xmlns:a16="http://schemas.microsoft.com/office/drawing/2014/main" id="{048ED919-EC8E-52A2-BCEA-3F3EA6DCF3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EEFB72-7AE3-6C47-50CF-6BD908F75D65}"/>
              </a:ext>
            </a:extLst>
          </p:cNvPr>
          <p:cNvSpPr>
            <a:spLocks noGrp="1"/>
          </p:cNvSpPr>
          <p:nvPr>
            <p:ph type="sldNum" sz="quarter" idx="12"/>
          </p:nvPr>
        </p:nvSpPr>
        <p:spPr/>
        <p:txBody>
          <a:bodyPr/>
          <a:lstStyle/>
          <a:p>
            <a:fld id="{C67DA592-8604-4F3C-BEFE-39189AA1E543}" type="slidenum">
              <a:rPr lang="en-IN" smtClean="0"/>
              <a:t>‹#›</a:t>
            </a:fld>
            <a:endParaRPr lang="en-IN"/>
          </a:p>
        </p:txBody>
      </p:sp>
    </p:spTree>
    <p:extLst>
      <p:ext uri="{BB962C8B-B14F-4D97-AF65-F5344CB8AC3E}">
        <p14:creationId xmlns:p14="http://schemas.microsoft.com/office/powerpoint/2010/main" val="303450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44226-4C94-EEC8-A322-6A749F0DCE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841300-0C9E-CA7A-2C99-82EFFB9DF6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EE32212-7693-8619-2DEF-838B6439ED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8AE688E-3DB0-B7BE-46AA-63D53F497AF1}"/>
              </a:ext>
            </a:extLst>
          </p:cNvPr>
          <p:cNvSpPr>
            <a:spLocks noGrp="1"/>
          </p:cNvSpPr>
          <p:nvPr>
            <p:ph type="dt" sz="half" idx="10"/>
          </p:nvPr>
        </p:nvSpPr>
        <p:spPr/>
        <p:txBody>
          <a:bodyPr/>
          <a:lstStyle/>
          <a:p>
            <a:fld id="{4B245BDD-0449-4806-BA47-E7FEC2D29ADB}" type="datetimeFigureOut">
              <a:rPr lang="en-IN" smtClean="0"/>
              <a:t>27-12-2025</a:t>
            </a:fld>
            <a:endParaRPr lang="en-IN"/>
          </a:p>
        </p:txBody>
      </p:sp>
      <p:sp>
        <p:nvSpPr>
          <p:cNvPr id="6" name="Footer Placeholder 5">
            <a:extLst>
              <a:ext uri="{FF2B5EF4-FFF2-40B4-BE49-F238E27FC236}">
                <a16:creationId xmlns:a16="http://schemas.microsoft.com/office/drawing/2014/main" id="{5EDC3B75-3364-93A9-D52E-F7F90BA908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3E7D4B-BC24-483E-BB25-4A070774F890}"/>
              </a:ext>
            </a:extLst>
          </p:cNvPr>
          <p:cNvSpPr>
            <a:spLocks noGrp="1"/>
          </p:cNvSpPr>
          <p:nvPr>
            <p:ph type="sldNum" sz="quarter" idx="12"/>
          </p:nvPr>
        </p:nvSpPr>
        <p:spPr/>
        <p:txBody>
          <a:bodyPr/>
          <a:lstStyle/>
          <a:p>
            <a:fld id="{C67DA592-8604-4F3C-BEFE-39189AA1E543}" type="slidenum">
              <a:rPr lang="en-IN" smtClean="0"/>
              <a:t>‹#›</a:t>
            </a:fld>
            <a:endParaRPr lang="en-IN"/>
          </a:p>
        </p:txBody>
      </p:sp>
    </p:spTree>
    <p:extLst>
      <p:ext uri="{BB962C8B-B14F-4D97-AF65-F5344CB8AC3E}">
        <p14:creationId xmlns:p14="http://schemas.microsoft.com/office/powerpoint/2010/main" val="484543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479AF-6552-6CBB-9FA5-1C13DA8B11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3E91FE-BBEF-BEE7-DC5A-E99E1C1366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713239-C293-B42C-2D55-17992B8950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91F080C-B32E-A14B-41E7-A2D09DFA99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096F5E-9D6C-7F32-B4C4-EBDEB4288F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1680003-F6E4-72A9-AB17-B122E4BF8F22}"/>
              </a:ext>
            </a:extLst>
          </p:cNvPr>
          <p:cNvSpPr>
            <a:spLocks noGrp="1"/>
          </p:cNvSpPr>
          <p:nvPr>
            <p:ph type="dt" sz="half" idx="10"/>
          </p:nvPr>
        </p:nvSpPr>
        <p:spPr/>
        <p:txBody>
          <a:bodyPr/>
          <a:lstStyle/>
          <a:p>
            <a:fld id="{4B245BDD-0449-4806-BA47-E7FEC2D29ADB}" type="datetimeFigureOut">
              <a:rPr lang="en-IN" smtClean="0"/>
              <a:t>27-12-2025</a:t>
            </a:fld>
            <a:endParaRPr lang="en-IN"/>
          </a:p>
        </p:txBody>
      </p:sp>
      <p:sp>
        <p:nvSpPr>
          <p:cNvPr id="8" name="Footer Placeholder 7">
            <a:extLst>
              <a:ext uri="{FF2B5EF4-FFF2-40B4-BE49-F238E27FC236}">
                <a16:creationId xmlns:a16="http://schemas.microsoft.com/office/drawing/2014/main" id="{24B24840-DF9E-21CE-BCE8-7B2CD03EE97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8125E55-07FD-0C40-EBC8-8F1755BC089B}"/>
              </a:ext>
            </a:extLst>
          </p:cNvPr>
          <p:cNvSpPr>
            <a:spLocks noGrp="1"/>
          </p:cNvSpPr>
          <p:nvPr>
            <p:ph type="sldNum" sz="quarter" idx="12"/>
          </p:nvPr>
        </p:nvSpPr>
        <p:spPr/>
        <p:txBody>
          <a:bodyPr/>
          <a:lstStyle/>
          <a:p>
            <a:fld id="{C67DA592-8604-4F3C-BEFE-39189AA1E543}" type="slidenum">
              <a:rPr lang="en-IN" smtClean="0"/>
              <a:t>‹#›</a:t>
            </a:fld>
            <a:endParaRPr lang="en-IN"/>
          </a:p>
        </p:txBody>
      </p:sp>
    </p:spTree>
    <p:extLst>
      <p:ext uri="{BB962C8B-B14F-4D97-AF65-F5344CB8AC3E}">
        <p14:creationId xmlns:p14="http://schemas.microsoft.com/office/powerpoint/2010/main" val="2780514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856B0-DD56-9AD3-F469-CF90A9663A7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36A47ED-9D04-4C3A-BFA0-02906AD04409}"/>
              </a:ext>
            </a:extLst>
          </p:cNvPr>
          <p:cNvSpPr>
            <a:spLocks noGrp="1"/>
          </p:cNvSpPr>
          <p:nvPr>
            <p:ph type="dt" sz="half" idx="10"/>
          </p:nvPr>
        </p:nvSpPr>
        <p:spPr/>
        <p:txBody>
          <a:bodyPr/>
          <a:lstStyle/>
          <a:p>
            <a:fld id="{4B245BDD-0449-4806-BA47-E7FEC2D29ADB}" type="datetimeFigureOut">
              <a:rPr lang="en-IN" smtClean="0"/>
              <a:t>27-12-2025</a:t>
            </a:fld>
            <a:endParaRPr lang="en-IN"/>
          </a:p>
        </p:txBody>
      </p:sp>
      <p:sp>
        <p:nvSpPr>
          <p:cNvPr id="4" name="Footer Placeholder 3">
            <a:extLst>
              <a:ext uri="{FF2B5EF4-FFF2-40B4-BE49-F238E27FC236}">
                <a16:creationId xmlns:a16="http://schemas.microsoft.com/office/drawing/2014/main" id="{19A25F98-1EAF-7018-419C-BF6578D05F8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57A06BE-3657-B88C-99A4-8F828A3BFFBF}"/>
              </a:ext>
            </a:extLst>
          </p:cNvPr>
          <p:cNvSpPr>
            <a:spLocks noGrp="1"/>
          </p:cNvSpPr>
          <p:nvPr>
            <p:ph type="sldNum" sz="quarter" idx="12"/>
          </p:nvPr>
        </p:nvSpPr>
        <p:spPr/>
        <p:txBody>
          <a:bodyPr/>
          <a:lstStyle/>
          <a:p>
            <a:fld id="{C67DA592-8604-4F3C-BEFE-39189AA1E543}" type="slidenum">
              <a:rPr lang="en-IN" smtClean="0"/>
              <a:t>‹#›</a:t>
            </a:fld>
            <a:endParaRPr lang="en-IN"/>
          </a:p>
        </p:txBody>
      </p:sp>
    </p:spTree>
    <p:extLst>
      <p:ext uri="{BB962C8B-B14F-4D97-AF65-F5344CB8AC3E}">
        <p14:creationId xmlns:p14="http://schemas.microsoft.com/office/powerpoint/2010/main" val="2583131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308356-79D3-A55E-8505-892DDBCDBEEE}"/>
              </a:ext>
            </a:extLst>
          </p:cNvPr>
          <p:cNvSpPr>
            <a:spLocks noGrp="1"/>
          </p:cNvSpPr>
          <p:nvPr>
            <p:ph type="dt" sz="half" idx="10"/>
          </p:nvPr>
        </p:nvSpPr>
        <p:spPr/>
        <p:txBody>
          <a:bodyPr/>
          <a:lstStyle/>
          <a:p>
            <a:fld id="{4B245BDD-0449-4806-BA47-E7FEC2D29ADB}" type="datetimeFigureOut">
              <a:rPr lang="en-IN" smtClean="0"/>
              <a:t>27-12-2025</a:t>
            </a:fld>
            <a:endParaRPr lang="en-IN"/>
          </a:p>
        </p:txBody>
      </p:sp>
      <p:sp>
        <p:nvSpPr>
          <p:cNvPr id="3" name="Footer Placeholder 2">
            <a:extLst>
              <a:ext uri="{FF2B5EF4-FFF2-40B4-BE49-F238E27FC236}">
                <a16:creationId xmlns:a16="http://schemas.microsoft.com/office/drawing/2014/main" id="{B768A3B9-FC85-5ED4-6AD8-C2E9AA9D678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F7F5637-E442-BCDF-ED68-30B47A629955}"/>
              </a:ext>
            </a:extLst>
          </p:cNvPr>
          <p:cNvSpPr>
            <a:spLocks noGrp="1"/>
          </p:cNvSpPr>
          <p:nvPr>
            <p:ph type="sldNum" sz="quarter" idx="12"/>
          </p:nvPr>
        </p:nvSpPr>
        <p:spPr/>
        <p:txBody>
          <a:bodyPr/>
          <a:lstStyle/>
          <a:p>
            <a:fld id="{C67DA592-8604-4F3C-BEFE-39189AA1E543}" type="slidenum">
              <a:rPr lang="en-IN" smtClean="0"/>
              <a:t>‹#›</a:t>
            </a:fld>
            <a:endParaRPr lang="en-IN"/>
          </a:p>
        </p:txBody>
      </p:sp>
    </p:spTree>
    <p:extLst>
      <p:ext uri="{BB962C8B-B14F-4D97-AF65-F5344CB8AC3E}">
        <p14:creationId xmlns:p14="http://schemas.microsoft.com/office/powerpoint/2010/main" val="932310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78F33-308B-6BB5-4A5E-5AF65A7DF4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7AAF1A2-A118-1875-A6FD-51F4680C01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D343F51-D7E9-CE14-77C4-C2FD9263F1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3AF6D4-B1E3-A068-56B6-04C61A9C6EA4}"/>
              </a:ext>
            </a:extLst>
          </p:cNvPr>
          <p:cNvSpPr>
            <a:spLocks noGrp="1"/>
          </p:cNvSpPr>
          <p:nvPr>
            <p:ph type="dt" sz="half" idx="10"/>
          </p:nvPr>
        </p:nvSpPr>
        <p:spPr/>
        <p:txBody>
          <a:bodyPr/>
          <a:lstStyle/>
          <a:p>
            <a:fld id="{4B245BDD-0449-4806-BA47-E7FEC2D29ADB}" type="datetimeFigureOut">
              <a:rPr lang="en-IN" smtClean="0"/>
              <a:t>27-12-2025</a:t>
            </a:fld>
            <a:endParaRPr lang="en-IN"/>
          </a:p>
        </p:txBody>
      </p:sp>
      <p:sp>
        <p:nvSpPr>
          <p:cNvPr id="6" name="Footer Placeholder 5">
            <a:extLst>
              <a:ext uri="{FF2B5EF4-FFF2-40B4-BE49-F238E27FC236}">
                <a16:creationId xmlns:a16="http://schemas.microsoft.com/office/drawing/2014/main" id="{3363B82A-2B70-4D85-7D61-577D256021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B12D80-88BD-528B-9CE1-F6591216CA83}"/>
              </a:ext>
            </a:extLst>
          </p:cNvPr>
          <p:cNvSpPr>
            <a:spLocks noGrp="1"/>
          </p:cNvSpPr>
          <p:nvPr>
            <p:ph type="sldNum" sz="quarter" idx="12"/>
          </p:nvPr>
        </p:nvSpPr>
        <p:spPr/>
        <p:txBody>
          <a:bodyPr/>
          <a:lstStyle/>
          <a:p>
            <a:fld id="{C67DA592-8604-4F3C-BEFE-39189AA1E543}" type="slidenum">
              <a:rPr lang="en-IN" smtClean="0"/>
              <a:t>‹#›</a:t>
            </a:fld>
            <a:endParaRPr lang="en-IN"/>
          </a:p>
        </p:txBody>
      </p:sp>
    </p:spTree>
    <p:extLst>
      <p:ext uri="{BB962C8B-B14F-4D97-AF65-F5344CB8AC3E}">
        <p14:creationId xmlns:p14="http://schemas.microsoft.com/office/powerpoint/2010/main" val="1695497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159F6-618F-D39F-1F6F-D16F9CA06D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DB3515C-6444-0FD9-6818-B1893794F7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B074F04-D473-974B-F8A2-77935E16E4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837771-76D3-101B-E0B3-FCA83BB0EE79}"/>
              </a:ext>
            </a:extLst>
          </p:cNvPr>
          <p:cNvSpPr>
            <a:spLocks noGrp="1"/>
          </p:cNvSpPr>
          <p:nvPr>
            <p:ph type="dt" sz="half" idx="10"/>
          </p:nvPr>
        </p:nvSpPr>
        <p:spPr/>
        <p:txBody>
          <a:bodyPr/>
          <a:lstStyle/>
          <a:p>
            <a:fld id="{4B245BDD-0449-4806-BA47-E7FEC2D29ADB}" type="datetimeFigureOut">
              <a:rPr lang="en-IN" smtClean="0"/>
              <a:t>27-12-2025</a:t>
            </a:fld>
            <a:endParaRPr lang="en-IN"/>
          </a:p>
        </p:txBody>
      </p:sp>
      <p:sp>
        <p:nvSpPr>
          <p:cNvPr id="6" name="Footer Placeholder 5">
            <a:extLst>
              <a:ext uri="{FF2B5EF4-FFF2-40B4-BE49-F238E27FC236}">
                <a16:creationId xmlns:a16="http://schemas.microsoft.com/office/drawing/2014/main" id="{F9FC8C6F-7C21-715A-F42F-8E1E778274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1293E8-7DD7-C6CE-8C7C-B233376163A8}"/>
              </a:ext>
            </a:extLst>
          </p:cNvPr>
          <p:cNvSpPr>
            <a:spLocks noGrp="1"/>
          </p:cNvSpPr>
          <p:nvPr>
            <p:ph type="sldNum" sz="quarter" idx="12"/>
          </p:nvPr>
        </p:nvSpPr>
        <p:spPr/>
        <p:txBody>
          <a:bodyPr/>
          <a:lstStyle/>
          <a:p>
            <a:fld id="{C67DA592-8604-4F3C-BEFE-39189AA1E543}" type="slidenum">
              <a:rPr lang="en-IN" smtClean="0"/>
              <a:t>‹#›</a:t>
            </a:fld>
            <a:endParaRPr lang="en-IN"/>
          </a:p>
        </p:txBody>
      </p:sp>
    </p:spTree>
    <p:extLst>
      <p:ext uri="{BB962C8B-B14F-4D97-AF65-F5344CB8AC3E}">
        <p14:creationId xmlns:p14="http://schemas.microsoft.com/office/powerpoint/2010/main" val="624712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CDF11-0CE7-5786-006C-5C2529FC9BB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103F4E1-E31B-5A75-E6BA-CD9BC01D00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D9E193-86D2-24D2-1AE6-AE0C1325DE9F}"/>
              </a:ext>
            </a:extLst>
          </p:cNvPr>
          <p:cNvSpPr>
            <a:spLocks noGrp="1"/>
          </p:cNvSpPr>
          <p:nvPr>
            <p:ph type="dt" sz="half" idx="10"/>
          </p:nvPr>
        </p:nvSpPr>
        <p:spPr/>
        <p:txBody>
          <a:bodyPr/>
          <a:lstStyle/>
          <a:p>
            <a:fld id="{4B245BDD-0449-4806-BA47-E7FEC2D29ADB}" type="datetimeFigureOut">
              <a:rPr lang="en-IN" smtClean="0"/>
              <a:t>27-12-2025</a:t>
            </a:fld>
            <a:endParaRPr lang="en-IN"/>
          </a:p>
        </p:txBody>
      </p:sp>
      <p:sp>
        <p:nvSpPr>
          <p:cNvPr id="5" name="Footer Placeholder 4">
            <a:extLst>
              <a:ext uri="{FF2B5EF4-FFF2-40B4-BE49-F238E27FC236}">
                <a16:creationId xmlns:a16="http://schemas.microsoft.com/office/drawing/2014/main" id="{4C9E10CE-1F3E-702C-AA09-AF60C214A1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672A8E-1F5F-CAE3-82FF-A1013CCF6D31}"/>
              </a:ext>
            </a:extLst>
          </p:cNvPr>
          <p:cNvSpPr>
            <a:spLocks noGrp="1"/>
          </p:cNvSpPr>
          <p:nvPr>
            <p:ph type="sldNum" sz="quarter" idx="12"/>
          </p:nvPr>
        </p:nvSpPr>
        <p:spPr/>
        <p:txBody>
          <a:bodyPr/>
          <a:lstStyle/>
          <a:p>
            <a:fld id="{C67DA592-8604-4F3C-BEFE-39189AA1E543}" type="slidenum">
              <a:rPr lang="en-IN" smtClean="0"/>
              <a:t>‹#›</a:t>
            </a:fld>
            <a:endParaRPr lang="en-IN"/>
          </a:p>
        </p:txBody>
      </p:sp>
    </p:spTree>
    <p:extLst>
      <p:ext uri="{BB962C8B-B14F-4D97-AF65-F5344CB8AC3E}">
        <p14:creationId xmlns:p14="http://schemas.microsoft.com/office/powerpoint/2010/main" val="111228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3B1D19-C1D5-F487-1DD4-B2AD06655D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AB8E70-D498-A397-C5A0-2E324CEBBB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91B818-397A-AEF1-6A0E-077925A2BDCB}"/>
              </a:ext>
            </a:extLst>
          </p:cNvPr>
          <p:cNvSpPr>
            <a:spLocks noGrp="1"/>
          </p:cNvSpPr>
          <p:nvPr>
            <p:ph type="dt" sz="half" idx="10"/>
          </p:nvPr>
        </p:nvSpPr>
        <p:spPr/>
        <p:txBody>
          <a:bodyPr/>
          <a:lstStyle/>
          <a:p>
            <a:fld id="{4B245BDD-0449-4806-BA47-E7FEC2D29ADB}" type="datetimeFigureOut">
              <a:rPr lang="en-IN" smtClean="0"/>
              <a:t>27-12-2025</a:t>
            </a:fld>
            <a:endParaRPr lang="en-IN"/>
          </a:p>
        </p:txBody>
      </p:sp>
      <p:sp>
        <p:nvSpPr>
          <p:cNvPr id="5" name="Footer Placeholder 4">
            <a:extLst>
              <a:ext uri="{FF2B5EF4-FFF2-40B4-BE49-F238E27FC236}">
                <a16:creationId xmlns:a16="http://schemas.microsoft.com/office/drawing/2014/main" id="{01386ED0-4BA5-2576-F90F-4C62B86DCF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93EC0D-20A1-4F01-BFF7-AD64898C8619}"/>
              </a:ext>
            </a:extLst>
          </p:cNvPr>
          <p:cNvSpPr>
            <a:spLocks noGrp="1"/>
          </p:cNvSpPr>
          <p:nvPr>
            <p:ph type="sldNum" sz="quarter" idx="12"/>
          </p:nvPr>
        </p:nvSpPr>
        <p:spPr/>
        <p:txBody>
          <a:bodyPr/>
          <a:lstStyle/>
          <a:p>
            <a:fld id="{C67DA592-8604-4F3C-BEFE-39189AA1E543}" type="slidenum">
              <a:rPr lang="en-IN" smtClean="0"/>
              <a:t>‹#›</a:t>
            </a:fld>
            <a:endParaRPr lang="en-IN"/>
          </a:p>
        </p:txBody>
      </p:sp>
    </p:spTree>
    <p:extLst>
      <p:ext uri="{BB962C8B-B14F-4D97-AF65-F5344CB8AC3E}">
        <p14:creationId xmlns:p14="http://schemas.microsoft.com/office/powerpoint/2010/main" val="2168259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E98E24-9821-EEF1-1F57-3F4DD7C9B1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DC9505-90D4-92C3-874C-B114D12742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0648B8-9996-D52F-F8DF-59DC710A08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245BDD-0449-4806-BA47-E7FEC2D29ADB}" type="datetimeFigureOut">
              <a:rPr lang="en-IN" smtClean="0"/>
              <a:t>27-12-2025</a:t>
            </a:fld>
            <a:endParaRPr lang="en-IN"/>
          </a:p>
        </p:txBody>
      </p:sp>
      <p:sp>
        <p:nvSpPr>
          <p:cNvPr id="5" name="Footer Placeholder 4">
            <a:extLst>
              <a:ext uri="{FF2B5EF4-FFF2-40B4-BE49-F238E27FC236}">
                <a16:creationId xmlns:a16="http://schemas.microsoft.com/office/drawing/2014/main" id="{A0D98360-DF27-33C1-A181-FB295DB4F0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5BBF059-D18F-553E-397F-EAAFA3EF77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7DA592-8604-4F3C-BEFE-39189AA1E543}" type="slidenum">
              <a:rPr lang="en-IN" smtClean="0"/>
              <a:t>‹#›</a:t>
            </a:fld>
            <a:endParaRPr lang="en-IN"/>
          </a:p>
        </p:txBody>
      </p:sp>
    </p:spTree>
    <p:extLst>
      <p:ext uri="{BB962C8B-B14F-4D97-AF65-F5344CB8AC3E}">
        <p14:creationId xmlns:p14="http://schemas.microsoft.com/office/powerpoint/2010/main" val="2972772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DE0CE-3BF8-A610-2400-0C5D9C2FBBBA}"/>
              </a:ext>
            </a:extLst>
          </p:cNvPr>
          <p:cNvSpPr>
            <a:spLocks noGrp="1"/>
          </p:cNvSpPr>
          <p:nvPr>
            <p:ph type="ctrTitle"/>
          </p:nvPr>
        </p:nvSpPr>
        <p:spPr/>
        <p:txBody>
          <a:bodyPr/>
          <a:lstStyle/>
          <a:p>
            <a:r>
              <a:rPr lang="en-US" dirty="0"/>
              <a:t>Laptop Price Analysis</a:t>
            </a:r>
            <a:endParaRPr lang="en-IN" dirty="0"/>
          </a:p>
        </p:txBody>
      </p:sp>
      <p:sp>
        <p:nvSpPr>
          <p:cNvPr id="3" name="Subtitle 2">
            <a:extLst>
              <a:ext uri="{FF2B5EF4-FFF2-40B4-BE49-F238E27FC236}">
                <a16:creationId xmlns:a16="http://schemas.microsoft.com/office/drawing/2014/main" id="{3D9F169E-96CC-D32A-3509-CE4C79CA980A}"/>
              </a:ext>
            </a:extLst>
          </p:cNvPr>
          <p:cNvSpPr>
            <a:spLocks noGrp="1"/>
          </p:cNvSpPr>
          <p:nvPr>
            <p:ph type="subTitle" idx="1"/>
          </p:nvPr>
        </p:nvSpPr>
        <p:spPr/>
        <p:txBody>
          <a:bodyPr/>
          <a:lstStyle/>
          <a:p>
            <a:r>
              <a:rPr lang="en-US" dirty="0"/>
              <a:t>Project Report</a:t>
            </a:r>
          </a:p>
          <a:p>
            <a:r>
              <a:rPr lang="en-US" dirty="0"/>
              <a:t>AFSANA SHAIKH</a:t>
            </a:r>
            <a:endParaRPr lang="en-IN" dirty="0"/>
          </a:p>
        </p:txBody>
      </p:sp>
    </p:spTree>
    <p:extLst>
      <p:ext uri="{BB962C8B-B14F-4D97-AF65-F5344CB8AC3E}">
        <p14:creationId xmlns:p14="http://schemas.microsoft.com/office/powerpoint/2010/main" val="4173267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48155-3C14-B8C0-7C68-FD6270D38352}"/>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7B66A492-B741-A23A-8E07-4070E775FA29}"/>
              </a:ext>
            </a:extLst>
          </p:cNvPr>
          <p:cNvSpPr>
            <a:spLocks noGrp="1"/>
          </p:cNvSpPr>
          <p:nvPr>
            <p:ph idx="1"/>
          </p:nvPr>
        </p:nvSpPr>
        <p:spPr/>
        <p:txBody>
          <a:bodyPr/>
          <a:lstStyle/>
          <a:p>
            <a:r>
              <a:rPr lang="en-US" dirty="0"/>
              <a:t>This project focuses on analyzing a laptop price dataset to understand how different hardware, brand, and display features influence laptop prices. Exploratory Data Analysis (EDA) and machine learning techniques were applied to identify key price-driving factors and to build a predictive model for estimating laptop prices. The study provides useful insights for consumers, manufacturers, and retailers.</a:t>
            </a:r>
            <a:endParaRPr lang="en-IN" dirty="0"/>
          </a:p>
        </p:txBody>
      </p:sp>
    </p:spTree>
    <p:extLst>
      <p:ext uri="{BB962C8B-B14F-4D97-AF65-F5344CB8AC3E}">
        <p14:creationId xmlns:p14="http://schemas.microsoft.com/office/powerpoint/2010/main" val="4192222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DCA0B-32C5-ED0A-C5CE-B8C7E7E992A4}"/>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5FF961AA-07BA-890C-FBC4-88322B67B98A}"/>
              </a:ext>
            </a:extLst>
          </p:cNvPr>
          <p:cNvSpPr>
            <a:spLocks noGrp="1"/>
          </p:cNvSpPr>
          <p:nvPr>
            <p:ph idx="1"/>
          </p:nvPr>
        </p:nvSpPr>
        <p:spPr/>
        <p:txBody>
          <a:bodyPr/>
          <a:lstStyle/>
          <a:p>
            <a:r>
              <a:rPr lang="en-US" dirty="0"/>
              <a:t>Laptop prices vary widely depending on specifications such as brand, processor, memory, storage, graphics, and display quality. Understanding the relationship between these features and price helps customers make informed purchasing decisions and helps manufacturers optimize product pricing. This project analyzes historical laptop data to uncover pricing patterns and develop a price prediction model.</a:t>
            </a:r>
            <a:endParaRPr lang="en-IN" dirty="0"/>
          </a:p>
        </p:txBody>
      </p:sp>
    </p:spTree>
    <p:extLst>
      <p:ext uri="{BB962C8B-B14F-4D97-AF65-F5344CB8AC3E}">
        <p14:creationId xmlns:p14="http://schemas.microsoft.com/office/powerpoint/2010/main" val="3069876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7B453-8646-4C9E-A2B1-6F56A568689F}"/>
              </a:ext>
            </a:extLst>
          </p:cNvPr>
          <p:cNvSpPr>
            <a:spLocks noGrp="1"/>
          </p:cNvSpPr>
          <p:nvPr>
            <p:ph type="title"/>
          </p:nvPr>
        </p:nvSpPr>
        <p:spPr/>
        <p:txBody>
          <a:bodyPr/>
          <a:lstStyle/>
          <a:p>
            <a:r>
              <a:rPr lang="en-IN" dirty="0"/>
              <a:t>Objectives of the Project</a:t>
            </a:r>
          </a:p>
        </p:txBody>
      </p:sp>
      <p:sp>
        <p:nvSpPr>
          <p:cNvPr id="4" name="Rectangle 1">
            <a:extLst>
              <a:ext uri="{FF2B5EF4-FFF2-40B4-BE49-F238E27FC236}">
                <a16:creationId xmlns:a16="http://schemas.microsoft.com/office/drawing/2014/main" id="{A05623E2-3065-AFC1-104A-315AF7BC145A}"/>
              </a:ext>
            </a:extLst>
          </p:cNvPr>
          <p:cNvSpPr>
            <a:spLocks noGrp="1" noChangeArrowheads="1"/>
          </p:cNvSpPr>
          <p:nvPr>
            <p:ph idx="1"/>
          </p:nvPr>
        </p:nvSpPr>
        <p:spPr bwMode="auto">
          <a:xfrm>
            <a:off x="838200" y="1509183"/>
            <a:ext cx="1065691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To analyze laptop specifications and their impact on price</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To perform exploratory data analysis using statistical and visual methods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To identify the most influential features affecting laptop prices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To build and evaluate machine learning models for price prediction</a:t>
            </a:r>
          </a:p>
        </p:txBody>
      </p:sp>
    </p:spTree>
    <p:extLst>
      <p:ext uri="{BB962C8B-B14F-4D97-AF65-F5344CB8AC3E}">
        <p14:creationId xmlns:p14="http://schemas.microsoft.com/office/powerpoint/2010/main" val="2608031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B7EA2-B3F4-7745-F275-DEE7AD757AC6}"/>
              </a:ext>
            </a:extLst>
          </p:cNvPr>
          <p:cNvSpPr>
            <a:spLocks noGrp="1"/>
          </p:cNvSpPr>
          <p:nvPr>
            <p:ph type="title"/>
          </p:nvPr>
        </p:nvSpPr>
        <p:spPr/>
        <p:txBody>
          <a:bodyPr/>
          <a:lstStyle/>
          <a:p>
            <a:r>
              <a:rPr lang="en-IN" dirty="0"/>
              <a:t>Dataset Description</a:t>
            </a:r>
          </a:p>
        </p:txBody>
      </p:sp>
      <p:sp>
        <p:nvSpPr>
          <p:cNvPr id="3" name="Content Placeholder 2">
            <a:extLst>
              <a:ext uri="{FF2B5EF4-FFF2-40B4-BE49-F238E27FC236}">
                <a16:creationId xmlns:a16="http://schemas.microsoft.com/office/drawing/2014/main" id="{910971B0-86DE-841C-2D14-75A9D6DC8462}"/>
              </a:ext>
            </a:extLst>
          </p:cNvPr>
          <p:cNvSpPr>
            <a:spLocks noGrp="1"/>
          </p:cNvSpPr>
          <p:nvPr>
            <p:ph idx="1"/>
          </p:nvPr>
        </p:nvSpPr>
        <p:spPr/>
        <p:txBody>
          <a:bodyPr>
            <a:normAutofit fontScale="70000" lnSpcReduction="20000"/>
          </a:bodyPr>
          <a:lstStyle/>
          <a:p>
            <a:pPr marL="0" indent="0">
              <a:buNone/>
            </a:pPr>
            <a:r>
              <a:rPr lang="en-IN" dirty="0"/>
              <a:t>The dataset contains information about various laptops and includes both categorical and numerical attributes.</a:t>
            </a:r>
          </a:p>
          <a:p>
            <a:r>
              <a:rPr lang="en-IN" b="1" dirty="0"/>
              <a:t>Key attributes include:</a:t>
            </a:r>
          </a:p>
          <a:p>
            <a:r>
              <a:rPr lang="en-IN" b="1" dirty="0"/>
              <a:t>Company</a:t>
            </a:r>
            <a:r>
              <a:rPr lang="en-IN" dirty="0"/>
              <a:t> – Laptop manufacturer</a:t>
            </a:r>
          </a:p>
          <a:p>
            <a:r>
              <a:rPr lang="en-IN" b="1" dirty="0"/>
              <a:t>RAM</a:t>
            </a:r>
            <a:r>
              <a:rPr lang="en-IN" dirty="0"/>
              <a:t> – Installed memory size</a:t>
            </a:r>
          </a:p>
          <a:p>
            <a:r>
              <a:rPr lang="en-IN" b="1" dirty="0"/>
              <a:t>CPU frequency</a:t>
            </a:r>
            <a:r>
              <a:rPr lang="en-IN" dirty="0"/>
              <a:t> – Processor speed</a:t>
            </a:r>
          </a:p>
          <a:p>
            <a:r>
              <a:rPr lang="en-IN" b="1" dirty="0"/>
              <a:t>GPU company</a:t>
            </a:r>
            <a:r>
              <a:rPr lang="en-IN" dirty="0"/>
              <a:t> – Graphics card manufacturer</a:t>
            </a:r>
          </a:p>
          <a:p>
            <a:r>
              <a:rPr lang="en-IN" b="1" dirty="0"/>
              <a:t>Storage type</a:t>
            </a:r>
            <a:r>
              <a:rPr lang="en-IN" dirty="0"/>
              <a:t> – HDD, SSD, or hybrid</a:t>
            </a:r>
          </a:p>
          <a:p>
            <a:r>
              <a:rPr lang="en-IN" b="1" dirty="0"/>
              <a:t>Screen size (Inches)</a:t>
            </a:r>
            <a:r>
              <a:rPr lang="en-IN" dirty="0"/>
              <a:t> – Display size</a:t>
            </a:r>
          </a:p>
          <a:p>
            <a:r>
              <a:rPr lang="en-IN" b="1" dirty="0"/>
              <a:t>Touchscreen</a:t>
            </a:r>
            <a:r>
              <a:rPr lang="en-IN" dirty="0"/>
              <a:t> – Touch support availability</a:t>
            </a:r>
          </a:p>
          <a:p>
            <a:r>
              <a:rPr lang="en-IN" b="1" dirty="0"/>
              <a:t>IPS display</a:t>
            </a:r>
            <a:r>
              <a:rPr lang="en-IN" dirty="0"/>
              <a:t> – Panel type</a:t>
            </a:r>
          </a:p>
          <a:p>
            <a:r>
              <a:rPr lang="en-IN" b="1" dirty="0"/>
              <a:t>Screen resolution &amp; PPI</a:t>
            </a:r>
            <a:r>
              <a:rPr lang="en-IN" dirty="0"/>
              <a:t> – Display quality indicators</a:t>
            </a:r>
          </a:p>
          <a:p>
            <a:r>
              <a:rPr lang="en-IN" b="1" dirty="0"/>
              <a:t>Price (Euros)</a:t>
            </a:r>
            <a:r>
              <a:rPr lang="en-IN" dirty="0"/>
              <a:t> – Target variable</a:t>
            </a:r>
          </a:p>
          <a:p>
            <a:endParaRPr lang="en-IN" dirty="0"/>
          </a:p>
        </p:txBody>
      </p:sp>
    </p:spTree>
    <p:extLst>
      <p:ext uri="{BB962C8B-B14F-4D97-AF65-F5344CB8AC3E}">
        <p14:creationId xmlns:p14="http://schemas.microsoft.com/office/powerpoint/2010/main" val="3156479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C9552-94CB-43EA-9586-72F8C5261E2F}"/>
              </a:ext>
            </a:extLst>
          </p:cNvPr>
          <p:cNvSpPr>
            <a:spLocks noGrp="1"/>
          </p:cNvSpPr>
          <p:nvPr>
            <p:ph type="title"/>
          </p:nvPr>
        </p:nvSpPr>
        <p:spPr/>
        <p:txBody>
          <a:bodyPr/>
          <a:lstStyle/>
          <a:p>
            <a:r>
              <a:rPr lang="en-IN" dirty="0"/>
              <a:t>Data Preprocessing</a:t>
            </a:r>
          </a:p>
        </p:txBody>
      </p:sp>
      <p:sp>
        <p:nvSpPr>
          <p:cNvPr id="3" name="Content Placeholder 2">
            <a:extLst>
              <a:ext uri="{FF2B5EF4-FFF2-40B4-BE49-F238E27FC236}">
                <a16:creationId xmlns:a16="http://schemas.microsoft.com/office/drawing/2014/main" id="{6557206E-A0B9-1C66-1BA7-3A8953680D69}"/>
              </a:ext>
            </a:extLst>
          </p:cNvPr>
          <p:cNvSpPr>
            <a:spLocks noGrp="1"/>
          </p:cNvSpPr>
          <p:nvPr>
            <p:ph idx="1"/>
          </p:nvPr>
        </p:nvSpPr>
        <p:spPr/>
        <p:txBody>
          <a:bodyPr/>
          <a:lstStyle/>
          <a:p>
            <a:r>
              <a:rPr lang="en-US" dirty="0"/>
              <a:t>The dataset was first inspected for missing values, duplicates, and data type inconsistencies. Non-informative columns such as product names were removed. Categorical variables were transformed into numerical format so that they could be used for machine learning modeling. The dataset was then divided into training and testing subsets.</a:t>
            </a:r>
            <a:endParaRPr lang="en-IN" dirty="0"/>
          </a:p>
        </p:txBody>
      </p:sp>
    </p:spTree>
    <p:extLst>
      <p:ext uri="{BB962C8B-B14F-4D97-AF65-F5344CB8AC3E}">
        <p14:creationId xmlns:p14="http://schemas.microsoft.com/office/powerpoint/2010/main" val="3791677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88384-71BB-E855-AFE4-58A967C13895}"/>
              </a:ext>
            </a:extLst>
          </p:cNvPr>
          <p:cNvSpPr>
            <a:spLocks noGrp="1"/>
          </p:cNvSpPr>
          <p:nvPr>
            <p:ph type="title"/>
          </p:nvPr>
        </p:nvSpPr>
        <p:spPr/>
        <p:txBody>
          <a:bodyPr/>
          <a:lstStyle/>
          <a:p>
            <a:r>
              <a:rPr lang="en-US" b="1" dirty="0"/>
              <a:t>Exploratory Data Analysis (EDA)</a:t>
            </a:r>
            <a:br>
              <a:rPr lang="en-US" b="1" dirty="0"/>
            </a:br>
            <a:endParaRPr lang="en-IN" dirty="0"/>
          </a:p>
        </p:txBody>
      </p:sp>
      <p:sp>
        <p:nvSpPr>
          <p:cNvPr id="3" name="Content Placeholder 2">
            <a:extLst>
              <a:ext uri="{FF2B5EF4-FFF2-40B4-BE49-F238E27FC236}">
                <a16:creationId xmlns:a16="http://schemas.microsoft.com/office/drawing/2014/main" id="{5CE0AAF7-5B54-44BC-6B34-32628C05D2AE}"/>
              </a:ext>
            </a:extLst>
          </p:cNvPr>
          <p:cNvSpPr>
            <a:spLocks noGrp="1"/>
          </p:cNvSpPr>
          <p:nvPr>
            <p:ph idx="1"/>
          </p:nvPr>
        </p:nvSpPr>
        <p:spPr/>
        <p:txBody>
          <a:bodyPr>
            <a:normAutofit/>
          </a:bodyPr>
          <a:lstStyle/>
          <a:p>
            <a:pPr marL="0" indent="0">
              <a:buNone/>
            </a:pPr>
            <a:r>
              <a:rPr lang="en-US" b="1" dirty="0"/>
              <a:t>1 Price Distribution</a:t>
            </a:r>
          </a:p>
          <a:p>
            <a:r>
              <a:rPr lang="en-US" dirty="0"/>
              <a:t>The price distribution analysis shows that most laptops fall within the low to mid-price range, while high-end premium laptops form a smaller segment. This indicates a right-skewed distribution of laptop prices.</a:t>
            </a:r>
          </a:p>
          <a:p>
            <a:pPr marL="0" indent="0">
              <a:buNone/>
            </a:pPr>
            <a:r>
              <a:rPr lang="en-US" b="1" dirty="0"/>
              <a:t>2 Brand-wise Price Analysis</a:t>
            </a:r>
          </a:p>
          <a:p>
            <a:r>
              <a:rPr lang="en-US" dirty="0"/>
              <a:t>Average price comparison across manufacturers reveals that premium brands tend to have significantly higher prices, while budget-oriented brands offer more affordable laptops. Brand value plays a major role in pricing.</a:t>
            </a:r>
          </a:p>
          <a:p>
            <a:endParaRPr lang="en-IN" dirty="0"/>
          </a:p>
        </p:txBody>
      </p:sp>
    </p:spTree>
    <p:extLst>
      <p:ext uri="{BB962C8B-B14F-4D97-AF65-F5344CB8AC3E}">
        <p14:creationId xmlns:p14="http://schemas.microsoft.com/office/powerpoint/2010/main" val="2460246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47ECB6-996B-99F1-19CE-7C57839DE019}"/>
              </a:ext>
            </a:extLst>
          </p:cNvPr>
          <p:cNvSpPr>
            <a:spLocks noGrp="1"/>
          </p:cNvSpPr>
          <p:nvPr>
            <p:ph idx="1"/>
          </p:nvPr>
        </p:nvSpPr>
        <p:spPr>
          <a:xfrm>
            <a:off x="838200" y="282633"/>
            <a:ext cx="10515600" cy="5894330"/>
          </a:xfrm>
        </p:spPr>
        <p:txBody>
          <a:bodyPr/>
          <a:lstStyle/>
          <a:p>
            <a:pPr marL="0" indent="0">
              <a:buNone/>
            </a:pPr>
            <a:r>
              <a:rPr lang="en-US" b="1" dirty="0"/>
              <a:t>3 RAM vs Price</a:t>
            </a:r>
          </a:p>
          <a:p>
            <a:r>
              <a:rPr lang="en-US" dirty="0"/>
              <a:t>Laptops with higher RAM configurations generally have higher prices. The increase in median price with RAM size confirms that memory capacity is a key determinant of laptop cost.</a:t>
            </a:r>
          </a:p>
          <a:p>
            <a:endParaRPr lang="en-US" b="1" dirty="0"/>
          </a:p>
          <a:p>
            <a:endParaRPr lang="en-US" b="1" dirty="0"/>
          </a:p>
          <a:p>
            <a:pPr marL="0" indent="0">
              <a:buNone/>
            </a:pPr>
            <a:r>
              <a:rPr lang="en-US" b="1" dirty="0"/>
              <a:t>4 Display Features and Price</a:t>
            </a:r>
          </a:p>
          <a:p>
            <a:r>
              <a:rPr lang="en-US" dirty="0"/>
              <a:t>Touchscreen and IPS display laptops are priced higher on average compared to non-touch and non-IPS models. High-resolution displays and higher pixel density (PPI) are associated with premium pricing.</a:t>
            </a:r>
          </a:p>
          <a:p>
            <a:endParaRPr lang="en-IN" dirty="0"/>
          </a:p>
        </p:txBody>
      </p:sp>
    </p:spTree>
    <p:extLst>
      <p:ext uri="{BB962C8B-B14F-4D97-AF65-F5344CB8AC3E}">
        <p14:creationId xmlns:p14="http://schemas.microsoft.com/office/powerpoint/2010/main" val="1860386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83E22D-8F7B-64AE-3D47-7EC34BBD95B8}"/>
              </a:ext>
            </a:extLst>
          </p:cNvPr>
          <p:cNvSpPr>
            <a:spLocks noGrp="1"/>
          </p:cNvSpPr>
          <p:nvPr>
            <p:ph idx="1"/>
          </p:nvPr>
        </p:nvSpPr>
        <p:spPr>
          <a:xfrm>
            <a:off x="838200" y="615142"/>
            <a:ext cx="10515600" cy="5561821"/>
          </a:xfrm>
        </p:spPr>
        <p:txBody>
          <a:bodyPr/>
          <a:lstStyle/>
          <a:p>
            <a:pPr marL="0" indent="0">
              <a:buNone/>
            </a:pPr>
            <a:r>
              <a:rPr lang="en-US" b="1" dirty="0"/>
              <a:t>5 Screen Size vs Price</a:t>
            </a:r>
          </a:p>
          <a:p>
            <a:r>
              <a:rPr lang="en-US" dirty="0"/>
              <a:t>Screen size shows a positive but moderate relationship with price. Larger screens often cost more, but other specifications also significantly affect pricing.</a:t>
            </a:r>
          </a:p>
          <a:p>
            <a:endParaRPr lang="en-US" b="1" dirty="0"/>
          </a:p>
          <a:p>
            <a:pPr marL="0" indent="0">
              <a:buNone/>
            </a:pPr>
            <a:r>
              <a:rPr lang="en-US" b="1" dirty="0"/>
              <a:t>6 Correlation Analysis</a:t>
            </a:r>
          </a:p>
          <a:p>
            <a:r>
              <a:rPr lang="en-US" dirty="0"/>
              <a:t>Correlation analysis highlights strong positive relationships between price and features such as RAM, CPU frequency, and display quality metrics. These features were identified as important predictors for modeling.</a:t>
            </a:r>
          </a:p>
          <a:p>
            <a:endParaRPr lang="en-IN" dirty="0"/>
          </a:p>
        </p:txBody>
      </p:sp>
    </p:spTree>
    <p:extLst>
      <p:ext uri="{BB962C8B-B14F-4D97-AF65-F5344CB8AC3E}">
        <p14:creationId xmlns:p14="http://schemas.microsoft.com/office/powerpoint/2010/main" val="2156749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C794A-1679-D8E1-1616-FA35A99AD5F2}"/>
              </a:ext>
            </a:extLst>
          </p:cNvPr>
          <p:cNvSpPr>
            <a:spLocks noGrp="1"/>
          </p:cNvSpPr>
          <p:nvPr>
            <p:ph type="title"/>
          </p:nvPr>
        </p:nvSpPr>
        <p:spPr/>
        <p:txBody>
          <a:bodyPr/>
          <a:lstStyle/>
          <a:p>
            <a:r>
              <a:rPr lang="en-IN" dirty="0"/>
              <a:t>Model Building</a:t>
            </a:r>
          </a:p>
        </p:txBody>
      </p:sp>
      <p:sp>
        <p:nvSpPr>
          <p:cNvPr id="3" name="Content Placeholder 2">
            <a:extLst>
              <a:ext uri="{FF2B5EF4-FFF2-40B4-BE49-F238E27FC236}">
                <a16:creationId xmlns:a16="http://schemas.microsoft.com/office/drawing/2014/main" id="{80351F2C-6C48-4E44-C81F-EB117B11F2FA}"/>
              </a:ext>
            </a:extLst>
          </p:cNvPr>
          <p:cNvSpPr>
            <a:spLocks noGrp="1"/>
          </p:cNvSpPr>
          <p:nvPr>
            <p:ph idx="1"/>
          </p:nvPr>
        </p:nvSpPr>
        <p:spPr/>
        <p:txBody>
          <a:bodyPr/>
          <a:lstStyle/>
          <a:p>
            <a:pPr marL="0" indent="0">
              <a:buNone/>
            </a:pPr>
            <a:r>
              <a:rPr lang="en-US" dirty="0"/>
              <a:t>Since laptop price is a continuous value, regression techniques were used. Two models were developed and evaluated:</a:t>
            </a:r>
          </a:p>
          <a:p>
            <a:r>
              <a:rPr lang="en-US" b="1" dirty="0"/>
              <a:t>Linear Regression</a:t>
            </a:r>
            <a:r>
              <a:rPr lang="en-US" dirty="0"/>
              <a:t> – Used as a baseline model to capture linear relationships</a:t>
            </a:r>
          </a:p>
          <a:p>
            <a:r>
              <a:rPr lang="en-US" b="1" dirty="0"/>
              <a:t>Random Forest Regressor</a:t>
            </a:r>
            <a:r>
              <a:rPr lang="en-US" dirty="0"/>
              <a:t> – Used to capture complex and non-linear relationships</a:t>
            </a:r>
          </a:p>
          <a:p>
            <a:pPr marL="0" indent="0">
              <a:buNone/>
            </a:pPr>
            <a:endParaRPr lang="en-IN" dirty="0"/>
          </a:p>
        </p:txBody>
      </p:sp>
    </p:spTree>
    <p:extLst>
      <p:ext uri="{BB962C8B-B14F-4D97-AF65-F5344CB8AC3E}">
        <p14:creationId xmlns:p14="http://schemas.microsoft.com/office/powerpoint/2010/main" val="3150425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CB8BE-4D6F-49C3-4509-C256F190F16A}"/>
              </a:ext>
            </a:extLst>
          </p:cNvPr>
          <p:cNvSpPr>
            <a:spLocks noGrp="1"/>
          </p:cNvSpPr>
          <p:nvPr>
            <p:ph type="title"/>
          </p:nvPr>
        </p:nvSpPr>
        <p:spPr/>
        <p:txBody>
          <a:bodyPr/>
          <a:lstStyle/>
          <a:p>
            <a:r>
              <a:rPr lang="en-IN" dirty="0"/>
              <a:t>Model Evaluation</a:t>
            </a:r>
          </a:p>
        </p:txBody>
      </p:sp>
      <p:sp>
        <p:nvSpPr>
          <p:cNvPr id="3" name="Content Placeholder 2">
            <a:extLst>
              <a:ext uri="{FF2B5EF4-FFF2-40B4-BE49-F238E27FC236}">
                <a16:creationId xmlns:a16="http://schemas.microsoft.com/office/drawing/2014/main" id="{842CC61F-858D-A39F-41EB-59676318AC38}"/>
              </a:ext>
            </a:extLst>
          </p:cNvPr>
          <p:cNvSpPr>
            <a:spLocks noGrp="1"/>
          </p:cNvSpPr>
          <p:nvPr>
            <p:ph idx="1"/>
          </p:nvPr>
        </p:nvSpPr>
        <p:spPr/>
        <p:txBody>
          <a:bodyPr/>
          <a:lstStyle/>
          <a:p>
            <a:pPr marL="0" indent="0">
              <a:buNone/>
            </a:pPr>
            <a:r>
              <a:rPr lang="en-US" dirty="0"/>
              <a:t>Model performance was evaluated using Mean Absolute Error (MAE) and R² score.</a:t>
            </a:r>
          </a:p>
          <a:p>
            <a:r>
              <a:rPr lang="en-US" dirty="0"/>
              <a:t>Linear Regression provided reasonable predictions but struggled with complex pricing patterns.</a:t>
            </a:r>
          </a:p>
          <a:p>
            <a:r>
              <a:rPr lang="en-US" dirty="0"/>
              <a:t>Random Forest achieved better accuracy and higher R² score, indicating superior predictive performance.</a:t>
            </a:r>
          </a:p>
          <a:p>
            <a:endParaRPr lang="en-IN" dirty="0"/>
          </a:p>
        </p:txBody>
      </p:sp>
    </p:spTree>
    <p:extLst>
      <p:ext uri="{BB962C8B-B14F-4D97-AF65-F5344CB8AC3E}">
        <p14:creationId xmlns:p14="http://schemas.microsoft.com/office/powerpoint/2010/main" val="768773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0E0E2-9F57-77C0-D408-07C993192DB4}"/>
              </a:ext>
            </a:extLst>
          </p:cNvPr>
          <p:cNvSpPr>
            <a:spLocks noGrp="1"/>
          </p:cNvSpPr>
          <p:nvPr>
            <p:ph type="title"/>
          </p:nvPr>
        </p:nvSpPr>
        <p:spPr/>
        <p:txBody>
          <a:bodyPr/>
          <a:lstStyle/>
          <a:p>
            <a:r>
              <a:rPr lang="en-IN" dirty="0"/>
              <a:t>Feature Importance Analysis</a:t>
            </a:r>
          </a:p>
        </p:txBody>
      </p:sp>
      <p:sp>
        <p:nvSpPr>
          <p:cNvPr id="3" name="Content Placeholder 2">
            <a:extLst>
              <a:ext uri="{FF2B5EF4-FFF2-40B4-BE49-F238E27FC236}">
                <a16:creationId xmlns:a16="http://schemas.microsoft.com/office/drawing/2014/main" id="{F100A4FF-4A27-A72F-CFDD-73E3104B4777}"/>
              </a:ext>
            </a:extLst>
          </p:cNvPr>
          <p:cNvSpPr>
            <a:spLocks noGrp="1"/>
          </p:cNvSpPr>
          <p:nvPr>
            <p:ph idx="1"/>
          </p:nvPr>
        </p:nvSpPr>
        <p:spPr/>
        <p:txBody>
          <a:bodyPr/>
          <a:lstStyle/>
          <a:p>
            <a:r>
              <a:rPr lang="en-US" dirty="0"/>
              <a:t>Feature importance analysis revealed that RAM, CPU frequency, storage type, and display-related features contribute most to price prediction. Brand and GPU manufacturer also play significant roles.</a:t>
            </a:r>
            <a:endParaRPr lang="en-IN" dirty="0"/>
          </a:p>
        </p:txBody>
      </p:sp>
    </p:spTree>
    <p:extLst>
      <p:ext uri="{BB962C8B-B14F-4D97-AF65-F5344CB8AC3E}">
        <p14:creationId xmlns:p14="http://schemas.microsoft.com/office/powerpoint/2010/main" val="1506036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85275-ACF7-6A6C-2D95-A131CC9330A1}"/>
              </a:ext>
            </a:extLst>
          </p:cNvPr>
          <p:cNvSpPr>
            <a:spLocks noGrp="1"/>
          </p:cNvSpPr>
          <p:nvPr>
            <p:ph type="title"/>
          </p:nvPr>
        </p:nvSpPr>
        <p:spPr/>
        <p:txBody>
          <a:bodyPr/>
          <a:lstStyle/>
          <a:p>
            <a:r>
              <a:rPr lang="en-IN" dirty="0"/>
              <a:t>Results and Discussion</a:t>
            </a:r>
          </a:p>
        </p:txBody>
      </p:sp>
      <p:sp>
        <p:nvSpPr>
          <p:cNvPr id="3" name="Content Placeholder 2">
            <a:extLst>
              <a:ext uri="{FF2B5EF4-FFF2-40B4-BE49-F238E27FC236}">
                <a16:creationId xmlns:a16="http://schemas.microsoft.com/office/drawing/2014/main" id="{D50C5ED2-7178-E047-A041-E3535FFCFFF1}"/>
              </a:ext>
            </a:extLst>
          </p:cNvPr>
          <p:cNvSpPr>
            <a:spLocks noGrp="1"/>
          </p:cNvSpPr>
          <p:nvPr>
            <p:ph idx="1"/>
          </p:nvPr>
        </p:nvSpPr>
        <p:spPr/>
        <p:txBody>
          <a:bodyPr/>
          <a:lstStyle/>
          <a:p>
            <a:r>
              <a:rPr lang="en-US" dirty="0"/>
              <a:t>The analysis confirms that laptop prices are influenced by a combination of brand reputation, hardware configuration, and display quality. Premium specifications consistently lead to higher prices. The Random Forest model effectively captured these relationships and outperformed the linear model.</a:t>
            </a:r>
            <a:endParaRPr lang="en-IN" dirty="0"/>
          </a:p>
        </p:txBody>
      </p:sp>
    </p:spTree>
    <p:extLst>
      <p:ext uri="{BB962C8B-B14F-4D97-AF65-F5344CB8AC3E}">
        <p14:creationId xmlns:p14="http://schemas.microsoft.com/office/powerpoint/2010/main" val="606576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EFC7F-EEBA-EC4E-79AA-23BE1E592546}"/>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24DF1416-A661-63D6-7828-8BFCEA856CAD}"/>
              </a:ext>
            </a:extLst>
          </p:cNvPr>
          <p:cNvSpPr>
            <a:spLocks noGrp="1"/>
          </p:cNvSpPr>
          <p:nvPr>
            <p:ph idx="1"/>
          </p:nvPr>
        </p:nvSpPr>
        <p:spPr/>
        <p:txBody>
          <a:bodyPr/>
          <a:lstStyle/>
          <a:p>
            <a:r>
              <a:rPr lang="en-US" dirty="0"/>
              <a:t>This project successfully analyzed laptop pricing trends and built a reliable machine learning model for price prediction. The results demonstrate the importance of hardware and display features in determining laptop prices. The developed model can assist in estimating fair laptop prices based on specifications.</a:t>
            </a:r>
            <a:endParaRPr lang="en-IN" dirty="0"/>
          </a:p>
        </p:txBody>
      </p:sp>
    </p:spTree>
    <p:extLst>
      <p:ext uri="{BB962C8B-B14F-4D97-AF65-F5344CB8AC3E}">
        <p14:creationId xmlns:p14="http://schemas.microsoft.com/office/powerpoint/2010/main" val="334979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10B35-E18B-BF35-510D-15E2F9932379}"/>
              </a:ext>
            </a:extLst>
          </p:cNvPr>
          <p:cNvSpPr>
            <a:spLocks noGrp="1"/>
          </p:cNvSpPr>
          <p:nvPr>
            <p:ph type="title"/>
          </p:nvPr>
        </p:nvSpPr>
        <p:spPr/>
        <p:txBody>
          <a:bodyPr/>
          <a:lstStyle/>
          <a:p>
            <a:r>
              <a:rPr lang="en-IN" dirty="0"/>
              <a:t>Future Scope</a:t>
            </a:r>
          </a:p>
        </p:txBody>
      </p:sp>
      <p:sp>
        <p:nvSpPr>
          <p:cNvPr id="5" name="Rectangle 2">
            <a:extLst>
              <a:ext uri="{FF2B5EF4-FFF2-40B4-BE49-F238E27FC236}">
                <a16:creationId xmlns:a16="http://schemas.microsoft.com/office/drawing/2014/main" id="{B6672681-A80B-6048-29ED-99251F1CE773}"/>
              </a:ext>
            </a:extLst>
          </p:cNvPr>
          <p:cNvSpPr>
            <a:spLocks noGrp="1" noChangeArrowheads="1"/>
          </p:cNvSpPr>
          <p:nvPr>
            <p:ph idx="1"/>
          </p:nvPr>
        </p:nvSpPr>
        <p:spPr bwMode="auto">
          <a:xfrm>
            <a:off x="838200" y="1613118"/>
            <a:ext cx="10439076"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Apply advanced regression models and hyperparameter tuning</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Handle outliers and feature scaling for improved accuracy</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Deploy the model as a web application</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Extend analysis to include user ratings and market demand</a:t>
            </a:r>
          </a:p>
        </p:txBody>
      </p:sp>
    </p:spTree>
    <p:extLst>
      <p:ext uri="{BB962C8B-B14F-4D97-AF65-F5344CB8AC3E}">
        <p14:creationId xmlns:p14="http://schemas.microsoft.com/office/powerpoint/2010/main" val="672341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784</Words>
  <Application>Microsoft Office PowerPoint</Application>
  <PresentationFormat>Widescreen</PresentationFormat>
  <Paragraphs>62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Laptop Price Analysis</vt:lpstr>
      <vt:lpstr>Abstract</vt:lpstr>
      <vt:lpstr>Introduction</vt:lpstr>
      <vt:lpstr>Objectives of the Project</vt:lpstr>
      <vt:lpstr>Dataset Description</vt:lpstr>
      <vt:lpstr>Data Preprocessing</vt:lpstr>
      <vt:lpstr>Exploratory Data Analysis (EDA) </vt:lpstr>
      <vt:lpstr>PowerPoint Presentation</vt:lpstr>
      <vt:lpstr>PowerPoint Presentation</vt:lpstr>
      <vt:lpstr>Model Building</vt:lpstr>
      <vt:lpstr>Model Evaluation</vt:lpstr>
      <vt:lpstr>Feature Importance Analysis</vt:lpstr>
      <vt:lpstr>Results and Discussion</vt:lpstr>
      <vt:lpstr>Conclusion</vt:lpstr>
      <vt:lpstr>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AFSANA</dc:creator>
  <cp:lastModifiedBy>AFSANA</cp:lastModifiedBy>
  <cp:revision>1</cp:revision>
  <dcterms:created xsi:type="dcterms:W3CDTF">2025-12-27T18:36:12Z</dcterms:created>
  <dcterms:modified xsi:type="dcterms:W3CDTF">2025-12-27T18:38:22Z</dcterms:modified>
</cp:coreProperties>
</file>